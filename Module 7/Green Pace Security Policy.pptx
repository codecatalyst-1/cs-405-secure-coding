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98" r:id="rId5"/>
    <p:sldId id="300" r:id="rId6"/>
    <p:sldId id="301" r:id="rId7"/>
    <p:sldId id="302" r:id="rId8"/>
    <p:sldId id="303" r:id="rId9"/>
    <p:sldId id="313" r:id="rId10"/>
    <p:sldId id="304" r:id="rId11"/>
    <p:sldId id="305" r:id="rId12"/>
    <p:sldId id="306" r:id="rId13"/>
    <p:sldId id="307" r:id="rId14"/>
    <p:sldId id="314" r:id="rId15"/>
    <p:sldId id="315" r:id="rId16"/>
    <p:sldId id="308" r:id="rId17"/>
    <p:sldId id="309" r:id="rId18"/>
    <p:sldId id="310" r:id="rId19"/>
    <p:sldId id="311" r:id="rId20"/>
    <p:sldId id="31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19" autoAdjust="0"/>
  </p:normalViewPr>
  <p:slideViewPr>
    <p:cSldViewPr snapToGrid="0">
      <p:cViewPr varScale="1">
        <p:scale>
          <a:sx n="60" d="100"/>
          <a:sy n="60" d="100"/>
        </p:scale>
        <p:origin x="7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8FE2FF-17BE-4D46-A823-0616F9ED52E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C8335C-CA68-470B-B051-35CE698EB1F2}">
      <dgm:prSet phldrT="[Text]" phldr="0" custT="1"/>
      <dgm:spPr/>
      <dgm:t>
        <a:bodyPr/>
        <a:lstStyle/>
        <a:p>
          <a:r>
            <a:rPr lang="en-US" sz="3200" dirty="0"/>
            <a:t>Code</a:t>
          </a:r>
        </a:p>
      </dgm:t>
    </dgm:pt>
    <dgm:pt modelId="{7B694A8E-7882-4110-B2B4-DBB3ADDFDB4A}" type="parTrans" cxnId="{5074CD9C-EE35-4D42-9F9E-EBC01EC8474C}">
      <dgm:prSet/>
      <dgm:spPr/>
      <dgm:t>
        <a:bodyPr/>
        <a:lstStyle/>
        <a:p>
          <a:endParaRPr lang="en-US"/>
        </a:p>
      </dgm:t>
    </dgm:pt>
    <dgm:pt modelId="{A4DF93BA-0F9E-4080-85DF-292BE3F6B0F1}" type="sibTrans" cxnId="{5074CD9C-EE35-4D42-9F9E-EBC01EC8474C}">
      <dgm:prSet/>
      <dgm:spPr/>
      <dgm:t>
        <a:bodyPr/>
        <a:lstStyle/>
        <a:p>
          <a:endParaRPr lang="en-US"/>
        </a:p>
      </dgm:t>
    </dgm:pt>
    <dgm:pt modelId="{5893AB1E-DB40-4F70-8E6A-9A50C986BF16}">
      <dgm:prSet phldrT="[Text]" phldr="0" custT="1"/>
      <dgm:spPr/>
      <dgm:t>
        <a:bodyPr/>
        <a:lstStyle/>
        <a:p>
          <a:r>
            <a:rPr lang="en-US" sz="3200" dirty="0"/>
            <a:t>Build</a:t>
          </a:r>
        </a:p>
      </dgm:t>
    </dgm:pt>
    <dgm:pt modelId="{24B5B4E2-2549-478E-8516-93245FF48D8E}" type="parTrans" cxnId="{1E018956-835B-4022-99E8-B39C0E0E5DEE}">
      <dgm:prSet/>
      <dgm:spPr/>
      <dgm:t>
        <a:bodyPr/>
        <a:lstStyle/>
        <a:p>
          <a:endParaRPr lang="en-US"/>
        </a:p>
      </dgm:t>
    </dgm:pt>
    <dgm:pt modelId="{85BAAA60-3879-43AD-9B8A-2815E6A4B210}" type="sibTrans" cxnId="{1E018956-835B-4022-99E8-B39C0E0E5DEE}">
      <dgm:prSet/>
      <dgm:spPr/>
      <dgm:t>
        <a:bodyPr/>
        <a:lstStyle/>
        <a:p>
          <a:endParaRPr lang="en-US"/>
        </a:p>
      </dgm:t>
    </dgm:pt>
    <dgm:pt modelId="{D625928D-8317-4D17-898E-FB59454FFA39}">
      <dgm:prSet phldrT="[Text]" phldr="0" custT="1"/>
      <dgm:spPr/>
      <dgm:t>
        <a:bodyPr/>
        <a:lstStyle/>
        <a:p>
          <a:r>
            <a:rPr lang="en-US" sz="3200" dirty="0"/>
            <a:t>Test</a:t>
          </a:r>
        </a:p>
      </dgm:t>
    </dgm:pt>
    <dgm:pt modelId="{F452583D-A3FE-40AD-B783-149B3DD7CF5B}" type="parTrans" cxnId="{29A5129E-A18D-4439-8F92-1F9161730321}">
      <dgm:prSet/>
      <dgm:spPr/>
      <dgm:t>
        <a:bodyPr/>
        <a:lstStyle/>
        <a:p>
          <a:endParaRPr lang="en-US"/>
        </a:p>
      </dgm:t>
    </dgm:pt>
    <dgm:pt modelId="{4255ECF5-60B7-4466-B55E-DC08C1C4ED1E}" type="sibTrans" cxnId="{29A5129E-A18D-4439-8F92-1F9161730321}">
      <dgm:prSet/>
      <dgm:spPr/>
      <dgm:t>
        <a:bodyPr/>
        <a:lstStyle/>
        <a:p>
          <a:endParaRPr lang="en-US"/>
        </a:p>
      </dgm:t>
    </dgm:pt>
    <dgm:pt modelId="{C7A765AA-A7C2-442E-B93E-2273DAABCCFF}" type="pres">
      <dgm:prSet presAssocID="{9B8FE2FF-17BE-4D46-A823-0616F9ED52EA}" presName="Name0" presStyleCnt="0">
        <dgm:presLayoutVars>
          <dgm:dir/>
          <dgm:animLvl val="lvl"/>
          <dgm:resizeHandles val="exact"/>
        </dgm:presLayoutVars>
      </dgm:prSet>
      <dgm:spPr/>
    </dgm:pt>
    <dgm:pt modelId="{49D6F397-05DF-4A4F-89E1-7F5C1F53CC70}" type="pres">
      <dgm:prSet presAssocID="{7EC8335C-CA68-470B-B051-35CE698EB1F2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0E3B5EB1-B30B-463B-A23A-D46B86C61447}" type="pres">
      <dgm:prSet presAssocID="{A4DF93BA-0F9E-4080-85DF-292BE3F6B0F1}" presName="parTxOnlySpace" presStyleCnt="0"/>
      <dgm:spPr/>
    </dgm:pt>
    <dgm:pt modelId="{7035C9C2-E5BD-48C7-958B-3927394C5758}" type="pres">
      <dgm:prSet presAssocID="{5893AB1E-DB40-4F70-8E6A-9A50C986BF16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CCDA13E5-BD9A-4DA6-B818-549626326C5D}" type="pres">
      <dgm:prSet presAssocID="{85BAAA60-3879-43AD-9B8A-2815E6A4B210}" presName="parTxOnlySpace" presStyleCnt="0"/>
      <dgm:spPr/>
    </dgm:pt>
    <dgm:pt modelId="{E8DAC0E6-C965-40FE-9359-A24C480E90E1}" type="pres">
      <dgm:prSet presAssocID="{D625928D-8317-4D17-898E-FB59454FFA39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01EDBB01-FA64-406E-8C82-F1C19A0305C7}" type="presOf" srcId="{D625928D-8317-4D17-898E-FB59454FFA39}" destId="{E8DAC0E6-C965-40FE-9359-A24C480E90E1}" srcOrd="0" destOrd="0" presId="urn:microsoft.com/office/officeart/2005/8/layout/chevron1"/>
    <dgm:cxn modelId="{E939F818-2B4F-4CA4-BF32-B305C2E6A39D}" type="presOf" srcId="{5893AB1E-DB40-4F70-8E6A-9A50C986BF16}" destId="{7035C9C2-E5BD-48C7-958B-3927394C5758}" srcOrd="0" destOrd="0" presId="urn:microsoft.com/office/officeart/2005/8/layout/chevron1"/>
    <dgm:cxn modelId="{AFF9AA3B-91D5-4B0B-8141-86850A4644EA}" type="presOf" srcId="{9B8FE2FF-17BE-4D46-A823-0616F9ED52EA}" destId="{C7A765AA-A7C2-442E-B93E-2273DAABCCFF}" srcOrd="0" destOrd="0" presId="urn:microsoft.com/office/officeart/2005/8/layout/chevron1"/>
    <dgm:cxn modelId="{1E018956-835B-4022-99E8-B39C0E0E5DEE}" srcId="{9B8FE2FF-17BE-4D46-A823-0616F9ED52EA}" destId="{5893AB1E-DB40-4F70-8E6A-9A50C986BF16}" srcOrd="1" destOrd="0" parTransId="{24B5B4E2-2549-478E-8516-93245FF48D8E}" sibTransId="{85BAAA60-3879-43AD-9B8A-2815E6A4B210}"/>
    <dgm:cxn modelId="{5074CD9C-EE35-4D42-9F9E-EBC01EC8474C}" srcId="{9B8FE2FF-17BE-4D46-A823-0616F9ED52EA}" destId="{7EC8335C-CA68-470B-B051-35CE698EB1F2}" srcOrd="0" destOrd="0" parTransId="{7B694A8E-7882-4110-B2B4-DBB3ADDFDB4A}" sibTransId="{A4DF93BA-0F9E-4080-85DF-292BE3F6B0F1}"/>
    <dgm:cxn modelId="{29A5129E-A18D-4439-8F92-1F9161730321}" srcId="{9B8FE2FF-17BE-4D46-A823-0616F9ED52EA}" destId="{D625928D-8317-4D17-898E-FB59454FFA39}" srcOrd="2" destOrd="0" parTransId="{F452583D-A3FE-40AD-B783-149B3DD7CF5B}" sibTransId="{4255ECF5-60B7-4466-B55E-DC08C1C4ED1E}"/>
    <dgm:cxn modelId="{37954EB0-44EF-4455-990C-84741D6186E5}" type="presOf" srcId="{7EC8335C-CA68-470B-B051-35CE698EB1F2}" destId="{49D6F397-05DF-4A4F-89E1-7F5C1F53CC70}" srcOrd="0" destOrd="0" presId="urn:microsoft.com/office/officeart/2005/8/layout/chevron1"/>
    <dgm:cxn modelId="{03A0C0F0-5D58-4402-AF89-54CFA32C550C}" type="presParOf" srcId="{C7A765AA-A7C2-442E-B93E-2273DAABCCFF}" destId="{49D6F397-05DF-4A4F-89E1-7F5C1F53CC70}" srcOrd="0" destOrd="0" presId="urn:microsoft.com/office/officeart/2005/8/layout/chevron1"/>
    <dgm:cxn modelId="{90193F9B-AB06-44CD-8AA5-F30FFCFD0377}" type="presParOf" srcId="{C7A765AA-A7C2-442E-B93E-2273DAABCCFF}" destId="{0E3B5EB1-B30B-463B-A23A-D46B86C61447}" srcOrd="1" destOrd="0" presId="urn:microsoft.com/office/officeart/2005/8/layout/chevron1"/>
    <dgm:cxn modelId="{95268D56-D04D-4AE9-B3F6-217177AA7251}" type="presParOf" srcId="{C7A765AA-A7C2-442E-B93E-2273DAABCCFF}" destId="{7035C9C2-E5BD-48C7-958B-3927394C5758}" srcOrd="2" destOrd="0" presId="urn:microsoft.com/office/officeart/2005/8/layout/chevron1"/>
    <dgm:cxn modelId="{0C38B77F-7546-42D7-ABFE-1861024397F4}" type="presParOf" srcId="{C7A765AA-A7C2-442E-B93E-2273DAABCCFF}" destId="{CCDA13E5-BD9A-4DA6-B818-549626326C5D}" srcOrd="3" destOrd="0" presId="urn:microsoft.com/office/officeart/2005/8/layout/chevron1"/>
    <dgm:cxn modelId="{B67F040F-0312-49E3-9EAA-6390A4BEE17D}" type="presParOf" srcId="{C7A765AA-A7C2-442E-B93E-2273DAABCCFF}" destId="{E8DAC0E6-C965-40FE-9359-A24C480E90E1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8FE2FF-17BE-4D46-A823-0616F9ED52EA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EC8335C-CA68-470B-B051-35CE698EB1F2}">
      <dgm:prSet phldrT="[Text]" phldr="0" custT="1"/>
      <dgm:spPr/>
      <dgm:t>
        <a:bodyPr/>
        <a:lstStyle/>
        <a:p>
          <a:r>
            <a:rPr lang="en-US" sz="3200" dirty="0"/>
            <a:t>Deploy</a:t>
          </a:r>
        </a:p>
      </dgm:t>
    </dgm:pt>
    <dgm:pt modelId="{7B694A8E-7882-4110-B2B4-DBB3ADDFDB4A}" type="parTrans" cxnId="{5074CD9C-EE35-4D42-9F9E-EBC01EC8474C}">
      <dgm:prSet/>
      <dgm:spPr/>
      <dgm:t>
        <a:bodyPr/>
        <a:lstStyle/>
        <a:p>
          <a:endParaRPr lang="en-US"/>
        </a:p>
      </dgm:t>
    </dgm:pt>
    <dgm:pt modelId="{A4DF93BA-0F9E-4080-85DF-292BE3F6B0F1}" type="sibTrans" cxnId="{5074CD9C-EE35-4D42-9F9E-EBC01EC8474C}">
      <dgm:prSet/>
      <dgm:spPr/>
      <dgm:t>
        <a:bodyPr/>
        <a:lstStyle/>
        <a:p>
          <a:endParaRPr lang="en-US"/>
        </a:p>
      </dgm:t>
    </dgm:pt>
    <dgm:pt modelId="{C7A765AA-A7C2-442E-B93E-2273DAABCCFF}" type="pres">
      <dgm:prSet presAssocID="{9B8FE2FF-17BE-4D46-A823-0616F9ED52EA}" presName="Name0" presStyleCnt="0">
        <dgm:presLayoutVars>
          <dgm:dir/>
          <dgm:animLvl val="lvl"/>
          <dgm:resizeHandles val="exact"/>
        </dgm:presLayoutVars>
      </dgm:prSet>
      <dgm:spPr/>
    </dgm:pt>
    <dgm:pt modelId="{49D6F397-05DF-4A4F-89E1-7F5C1F53CC70}" type="pres">
      <dgm:prSet presAssocID="{7EC8335C-CA68-470B-B051-35CE698EB1F2}" presName="parTxOnly" presStyleLbl="node1" presStyleIdx="0" presStyleCnt="1" custLinFactNeighborX="2255" custLinFactNeighborY="7542">
        <dgm:presLayoutVars>
          <dgm:chMax val="0"/>
          <dgm:chPref val="0"/>
          <dgm:bulletEnabled val="1"/>
        </dgm:presLayoutVars>
      </dgm:prSet>
      <dgm:spPr/>
    </dgm:pt>
  </dgm:ptLst>
  <dgm:cxnLst>
    <dgm:cxn modelId="{AFF9AA3B-91D5-4B0B-8141-86850A4644EA}" type="presOf" srcId="{9B8FE2FF-17BE-4D46-A823-0616F9ED52EA}" destId="{C7A765AA-A7C2-442E-B93E-2273DAABCCFF}" srcOrd="0" destOrd="0" presId="urn:microsoft.com/office/officeart/2005/8/layout/chevron1"/>
    <dgm:cxn modelId="{5074CD9C-EE35-4D42-9F9E-EBC01EC8474C}" srcId="{9B8FE2FF-17BE-4D46-A823-0616F9ED52EA}" destId="{7EC8335C-CA68-470B-B051-35CE698EB1F2}" srcOrd="0" destOrd="0" parTransId="{7B694A8E-7882-4110-B2B4-DBB3ADDFDB4A}" sibTransId="{A4DF93BA-0F9E-4080-85DF-292BE3F6B0F1}"/>
    <dgm:cxn modelId="{37954EB0-44EF-4455-990C-84741D6186E5}" type="presOf" srcId="{7EC8335C-CA68-470B-B051-35CE698EB1F2}" destId="{49D6F397-05DF-4A4F-89E1-7F5C1F53CC70}" srcOrd="0" destOrd="0" presId="urn:microsoft.com/office/officeart/2005/8/layout/chevron1"/>
    <dgm:cxn modelId="{03A0C0F0-5D58-4402-AF89-54CFA32C550C}" type="presParOf" srcId="{C7A765AA-A7C2-442E-B93E-2273DAABCCFF}" destId="{49D6F397-05DF-4A4F-89E1-7F5C1F53CC70}" srcOrd="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D6F397-05DF-4A4F-89E1-7F5C1F53CC70}">
      <dsp:nvSpPr>
        <dsp:cNvPr id="0" name=""/>
        <dsp:cNvSpPr/>
      </dsp:nvSpPr>
      <dsp:spPr>
        <a:xfrm>
          <a:off x="1862" y="807913"/>
          <a:ext cx="2268834" cy="907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Code</a:t>
          </a:r>
        </a:p>
      </dsp:txBody>
      <dsp:txXfrm>
        <a:off x="455629" y="807913"/>
        <a:ext cx="1361301" cy="907533"/>
      </dsp:txXfrm>
    </dsp:sp>
    <dsp:sp modelId="{7035C9C2-E5BD-48C7-958B-3927394C5758}">
      <dsp:nvSpPr>
        <dsp:cNvPr id="0" name=""/>
        <dsp:cNvSpPr/>
      </dsp:nvSpPr>
      <dsp:spPr>
        <a:xfrm>
          <a:off x="2043812" y="807913"/>
          <a:ext cx="2268834" cy="907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Build</a:t>
          </a:r>
        </a:p>
      </dsp:txBody>
      <dsp:txXfrm>
        <a:off x="2497579" y="807913"/>
        <a:ext cx="1361301" cy="907533"/>
      </dsp:txXfrm>
    </dsp:sp>
    <dsp:sp modelId="{E8DAC0E6-C965-40FE-9359-A24C480E90E1}">
      <dsp:nvSpPr>
        <dsp:cNvPr id="0" name=""/>
        <dsp:cNvSpPr/>
      </dsp:nvSpPr>
      <dsp:spPr>
        <a:xfrm>
          <a:off x="4085763" y="807913"/>
          <a:ext cx="2268834" cy="907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Test</a:t>
          </a:r>
        </a:p>
      </dsp:txBody>
      <dsp:txXfrm>
        <a:off x="4539530" y="807913"/>
        <a:ext cx="1361301" cy="9075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D6F397-05DF-4A4F-89E1-7F5C1F53CC70}">
      <dsp:nvSpPr>
        <dsp:cNvPr id="0" name=""/>
        <dsp:cNvSpPr/>
      </dsp:nvSpPr>
      <dsp:spPr>
        <a:xfrm>
          <a:off x="2383" y="0"/>
          <a:ext cx="2438019" cy="904987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42672" rIns="42672" bIns="42672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Deploy</a:t>
          </a:r>
        </a:p>
      </dsp:txBody>
      <dsp:txXfrm>
        <a:off x="454877" y="0"/>
        <a:ext cx="1533032" cy="90498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hyperlink" Target="https://dribbble.com/search/3-layer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isa.gov/topics/cyber-threats-and-response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source.com/article/21/1/kubelinter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xhere.com/en/photo/850741" TargetMode="Externa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stock.com/free-icons/vector-illustration-icon-clipboard-562663249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dulabs.de/blog/Vernetzung-und-Austausch-zum-Thema-Open-Education-und-zeitgem%C3%A4%C3%9Fe-freie-Bildung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unespacioenlared.blogspot.com/2017/" TargetMode="Externa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188421/open%20and%20closed%20lock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17628-shield-png-hd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cusfitness.net/stock-photos/downloads/weight-scale-tracking-weight-loss-progress/" TargetMode="External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ocalitytokens.info/roadmap/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71466&amp;picture=check-mark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6028/NIST.SP.800-53r5" TargetMode="External"/><Relationship Id="rId2" Type="http://schemas.openxmlformats.org/officeDocument/2006/relationships/hyperlink" Target="https://wiki.sei.cmu.edu/confluence/display/cplusplu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earn.microsoft.com/en-us/cpp/sanitizers/" TargetMode="External"/><Relationship Id="rId4" Type="http://schemas.openxmlformats.org/officeDocument/2006/relationships/hyperlink" Target="https://owasp.org/www-project-top-te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 dirty="0"/>
              <a:t>Green Pace Security Policy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5"/>
            <a:ext cx="3205640" cy="1005817"/>
          </a:xfrm>
        </p:spPr>
        <p:txBody>
          <a:bodyPr anchor="t"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sz="1400" dirty="0"/>
              <a:t>Ethan Chapman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CS-405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Professor Mills</a:t>
            </a:r>
          </a:p>
          <a:p>
            <a:pPr>
              <a:lnSpc>
                <a:spcPct val="100000"/>
              </a:lnSpc>
            </a:pPr>
            <a:endParaRPr lang="en-US" sz="160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Overview of Security Policy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313AFA7-F8B2-9282-43D4-542DDE64C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5869004" cy="1958473"/>
          </a:xfrm>
        </p:spPr>
        <p:txBody>
          <a:bodyPr/>
          <a:lstStyle/>
          <a:p>
            <a:r>
              <a:rPr lang="en-US" dirty="0"/>
              <a:t>• Standardizes secure development practices</a:t>
            </a:r>
            <a:br>
              <a:rPr lang="en-US" dirty="0"/>
            </a:br>
            <a:r>
              <a:rPr lang="en-US" dirty="0"/>
              <a:t>• Reduces attack surface area</a:t>
            </a:r>
            <a:br>
              <a:rPr lang="en-US" dirty="0"/>
            </a:br>
            <a:r>
              <a:rPr lang="en-US" dirty="0"/>
              <a:t>• Assumes vulnerability, not safety</a:t>
            </a:r>
            <a:br>
              <a:rPr lang="en-US" dirty="0"/>
            </a:br>
            <a:r>
              <a:rPr lang="en-US" dirty="0"/>
              <a:t>• Supports defense-in-depth strategy</a:t>
            </a:r>
            <a:br>
              <a:rPr lang="en-US" dirty="0"/>
            </a:br>
            <a:r>
              <a:rPr lang="en-US" dirty="0"/>
              <a:t>• Aligns coding standards with security principles</a:t>
            </a:r>
          </a:p>
        </p:txBody>
      </p:sp>
      <p:pic>
        <p:nvPicPr>
          <p:cNvPr id="10" name="Picture 9" descr="A gold logo on a black background&#10;&#10;AI-generated content may be incorrect.">
            <a:extLst>
              <a:ext uri="{FF2B5EF4-FFF2-40B4-BE49-F238E27FC236}">
                <a16:creationId xmlns:a16="http://schemas.microsoft.com/office/drawing/2014/main" id="{1A68D3E4-7419-FEA2-D692-0939AFC553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8157411" y="3429000"/>
            <a:ext cx="4034589" cy="30259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D8BDF8-8E33-9189-AF40-A88AABE4317E}"/>
              </a:ext>
            </a:extLst>
          </p:cNvPr>
          <p:cNvSpPr txBox="1"/>
          <p:nvPr/>
        </p:nvSpPr>
        <p:spPr>
          <a:xfrm>
            <a:off x="10506891" y="6454942"/>
            <a:ext cx="1685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(NIST, 2020)</a:t>
            </a:r>
          </a:p>
        </p:txBody>
      </p:sp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69D4B-4E7F-EFE2-AD19-09CB313AA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216" y="0"/>
            <a:ext cx="7022432" cy="966652"/>
          </a:xfrm>
        </p:spPr>
        <p:txBody>
          <a:bodyPr>
            <a:normAutofit fontScale="90000"/>
          </a:bodyPr>
          <a:lstStyle/>
          <a:p>
            <a:r>
              <a:rPr lang="en-US" dirty="0"/>
              <a:t>Threat Matrix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467FA9B-B71B-6B63-5F15-A7186D02B4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1314749"/>
              </p:ext>
            </p:extLst>
          </p:nvPr>
        </p:nvGraphicFramePr>
        <p:xfrm>
          <a:off x="1193216" y="2422082"/>
          <a:ext cx="10058400" cy="21945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1484514274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79676643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672878618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903698308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9103459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Standard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Severity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Likelihood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Priority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2231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STD-004-CPP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Critical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Critical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833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STD-005-CPP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Critical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8126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STD-008-CPP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Critical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087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STD-002-CPP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662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STD-003-CPP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078438"/>
                  </a:ext>
                </a:extLst>
              </a:tr>
            </a:tbl>
          </a:graphicData>
        </a:graphic>
      </p:graphicFrame>
      <p:pic>
        <p:nvPicPr>
          <p:cNvPr id="6" name="Picture 5" descr="A red lock with a keyhole on it">
            <a:extLst>
              <a:ext uri="{FF2B5EF4-FFF2-40B4-BE49-F238E27FC236}">
                <a16:creationId xmlns:a16="http://schemas.microsoft.com/office/drawing/2014/main" id="{0C77AA16-2909-894A-24A3-6B6D270AE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156032" y="1"/>
            <a:ext cx="3035968" cy="17077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A8F35C-68EB-AB78-D726-CECCB54CEB8F}"/>
              </a:ext>
            </a:extLst>
          </p:cNvPr>
          <p:cNvSpPr txBox="1"/>
          <p:nvPr/>
        </p:nvSpPr>
        <p:spPr>
          <a:xfrm>
            <a:off x="1193216" y="966652"/>
            <a:ext cx="7022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*Risk ranking methodology adapted from NIST SP 800-53 (NIST,      2020) </a:t>
            </a:r>
          </a:p>
        </p:txBody>
      </p:sp>
    </p:spTree>
    <p:extLst>
      <p:ext uri="{BB962C8B-B14F-4D97-AF65-F5344CB8AC3E}">
        <p14:creationId xmlns:p14="http://schemas.microsoft.com/office/powerpoint/2010/main" val="533875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CE77A-9C8F-22AA-0395-1B416497D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Automation for Detection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83B1183-F2A9-6926-3BAD-3A49201422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421098"/>
            <a:ext cx="287314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b="1" dirty="0"/>
              <a:t>Static Analysis (SAST)</a:t>
            </a:r>
            <a:br>
              <a:rPr lang="en-US" sz="1800" dirty="0"/>
            </a:br>
            <a:r>
              <a:rPr lang="en-US" sz="1800" dirty="0"/>
              <a:t>• SonarQube</a:t>
            </a:r>
            <a:br>
              <a:rPr lang="en-US" sz="1800" dirty="0"/>
            </a:br>
            <a:r>
              <a:rPr lang="en-US" sz="1800" dirty="0"/>
              <a:t>• </a:t>
            </a:r>
            <a:r>
              <a:rPr lang="en-US" sz="1800" dirty="0" err="1"/>
              <a:t>Cppcheck</a:t>
            </a:r>
            <a:br>
              <a:rPr lang="en-US" sz="1800" dirty="0"/>
            </a:br>
            <a:r>
              <a:rPr lang="en-US" sz="1800" dirty="0"/>
              <a:t>• Clang-Tidy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A8E24C-EDEC-1417-3BF2-27F5CD7B5507}"/>
              </a:ext>
            </a:extLst>
          </p:cNvPr>
          <p:cNvSpPr txBox="1"/>
          <p:nvPr/>
        </p:nvSpPr>
        <p:spPr>
          <a:xfrm>
            <a:off x="5474368" y="2421098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Dynamic Analysis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AddressSanitizer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Valgrind</a:t>
            </a:r>
            <a:endParaRPr lang="en-US" dirty="0"/>
          </a:p>
        </p:txBody>
      </p:sp>
      <p:pic>
        <p:nvPicPr>
          <p:cNvPr id="7" name="Picture 6" descr="A magnifying glass with a warning sign">
            <a:extLst>
              <a:ext uri="{FF2B5EF4-FFF2-40B4-BE49-F238E27FC236}">
                <a16:creationId xmlns:a16="http://schemas.microsoft.com/office/drawing/2014/main" id="{9B88DCC3-9B0C-6AFF-6B84-7804C40357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855242" y="0"/>
            <a:ext cx="3336758" cy="1880135"/>
          </a:xfrm>
          <a:prstGeom prst="rect">
            <a:avLst/>
          </a:prstGeom>
        </p:spPr>
      </p:pic>
      <p:pic>
        <p:nvPicPr>
          <p:cNvPr id="10" name="Picture 9" descr="A magnifying glass on a book">
            <a:extLst>
              <a:ext uri="{FF2B5EF4-FFF2-40B4-BE49-F238E27FC236}">
                <a16:creationId xmlns:a16="http://schemas.microsoft.com/office/drawing/2014/main" id="{286FD2B6-E0C8-4FE9-EA6B-5D3098AC89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0" y="4305165"/>
            <a:ext cx="3176337" cy="211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788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601D-6324-A2D4-07F9-566CC12A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 Core Security Principles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EAAD060-17CE-7808-9F8E-EF20C82F09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108202"/>
            <a:ext cx="3134478" cy="2910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 Input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Heed Compiler Warnings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for Security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Keep It Simple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 Deny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Least Privilege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Sanitize External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Defense in Depth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 Assurance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Coding Standards</a:t>
            </a:r>
          </a:p>
        </p:txBody>
      </p:sp>
      <p:pic>
        <p:nvPicPr>
          <p:cNvPr id="8" name="Picture 7" descr="A black clipboard with check marks">
            <a:extLst>
              <a:ext uri="{FF2B5EF4-FFF2-40B4-BE49-F238E27FC236}">
                <a16:creationId xmlns:a16="http://schemas.microsoft.com/office/drawing/2014/main" id="{766141AA-255C-C508-3431-51A04C75B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35502" y="2195291"/>
            <a:ext cx="2467418" cy="24674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455C9A-6B04-043E-6CC0-774A2A177516}"/>
              </a:ext>
            </a:extLst>
          </p:cNvPr>
          <p:cNvSpPr txBox="1"/>
          <p:nvPr/>
        </p:nvSpPr>
        <p:spPr>
          <a:xfrm>
            <a:off x="4464265" y="6378859"/>
            <a:ext cx="75535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*Based on ISO/IEC 27001 and NIST principles (ISO/IEC, 2014; NIST, 2020)</a:t>
            </a:r>
          </a:p>
        </p:txBody>
      </p:sp>
    </p:spTree>
    <p:extLst>
      <p:ext uri="{BB962C8B-B14F-4D97-AF65-F5344CB8AC3E}">
        <p14:creationId xmlns:p14="http://schemas.microsoft.com/office/powerpoint/2010/main" val="519569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F0DBA-F493-C8C7-A379-B30FA2F8A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Mapping Principles to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5ADFF-AD62-98E2-0F01-401125750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569873" cy="1974701"/>
          </a:xfrm>
        </p:spPr>
        <p:txBody>
          <a:bodyPr/>
          <a:lstStyle/>
          <a:p>
            <a:r>
              <a:rPr lang="en-US" dirty="0"/>
              <a:t>• STD-002 → Principle 1 (Validate Input)</a:t>
            </a:r>
            <a:br>
              <a:rPr lang="en-US" dirty="0"/>
            </a:br>
            <a:r>
              <a:rPr lang="en-US" dirty="0"/>
              <a:t>• STD-004 → Principles 1, 7, 8</a:t>
            </a:r>
            <a:br>
              <a:rPr lang="en-US" dirty="0"/>
            </a:br>
            <a:r>
              <a:rPr lang="en-US" dirty="0"/>
              <a:t>• STD-005 → Principles 6, 8, 10</a:t>
            </a:r>
            <a:br>
              <a:rPr lang="en-US" dirty="0"/>
            </a:br>
            <a:r>
              <a:rPr lang="en-US" dirty="0"/>
              <a:t>• STD-008 → Principles 6, 10</a:t>
            </a:r>
            <a:br>
              <a:rPr lang="en-US" dirty="0"/>
            </a:br>
            <a:r>
              <a:rPr lang="en-US" dirty="0"/>
              <a:t>• STD-010 → Principles 3, 5</a:t>
            </a:r>
          </a:p>
        </p:txBody>
      </p:sp>
      <p:pic>
        <p:nvPicPr>
          <p:cNvPr id="14" name="Picture 13" descr="A sphere with connected lines and dots&#10;&#10;AI-generated content may be incorrect.">
            <a:extLst>
              <a:ext uri="{FF2B5EF4-FFF2-40B4-BE49-F238E27FC236}">
                <a16:creationId xmlns:a16="http://schemas.microsoft.com/office/drawing/2014/main" id="{2E13EB98-5E41-0290-ED2D-A14AE39C6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481239" y="2291316"/>
            <a:ext cx="2966484" cy="296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951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4A399-2033-8E2A-7B77-B8F067BC4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Standards Prioritized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CFD59FF-52C8-2EC8-87F8-97383C7BEA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13921" y="2548686"/>
            <a:ext cx="413425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Injection (STD-004)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 Protection (STD-005)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Pointer Safety (STD-008)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Validation (STD-002)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 Safety (STD-003)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Logging (STD-010)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Types (STD-001)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Assertions (STD-006)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Exceptions (STD-007)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 Management (STD-009)</a:t>
            </a:r>
          </a:p>
        </p:txBody>
      </p:sp>
      <p:pic>
        <p:nvPicPr>
          <p:cNvPr id="7" name="Picture 6" descr="A globe with numbers and a chart">
            <a:extLst>
              <a:ext uri="{FF2B5EF4-FFF2-40B4-BE49-F238E27FC236}">
                <a16:creationId xmlns:a16="http://schemas.microsoft.com/office/drawing/2014/main" id="{C120D217-F08E-65B8-12FB-D94D758C2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986131" y="2225749"/>
            <a:ext cx="5087680" cy="264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83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20F37-AC34-AC1D-0136-59E7DE5EC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Encryption Strategy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11F81F-FF83-E311-0EF0-85AFF0E001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71709" y="2182989"/>
            <a:ext cx="317700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1800" b="1" dirty="0"/>
              <a:t>Encryption at Rest</a:t>
            </a:r>
            <a:br>
              <a:rPr lang="en-US" sz="1800" dirty="0"/>
            </a:br>
            <a:r>
              <a:rPr lang="en-US" sz="1800" dirty="0"/>
              <a:t>• AES-256</a:t>
            </a:r>
            <a:br>
              <a:rPr lang="en-US" sz="1800" dirty="0"/>
            </a:br>
            <a:r>
              <a:rPr lang="en-US" sz="1800" dirty="0"/>
              <a:t>• Protects stored data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40F4F2-B702-5528-9680-F272754BB8A4}"/>
              </a:ext>
            </a:extLst>
          </p:cNvPr>
          <p:cNvSpPr txBox="1"/>
          <p:nvPr/>
        </p:nvSpPr>
        <p:spPr>
          <a:xfrm>
            <a:off x="4242391" y="2105246"/>
            <a:ext cx="3494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Encryption in Flight</a:t>
            </a:r>
            <a:br>
              <a:rPr lang="en-US" dirty="0"/>
            </a:br>
            <a:r>
              <a:rPr lang="en-US" dirty="0"/>
              <a:t>• TLS 1.2+</a:t>
            </a:r>
            <a:br>
              <a:rPr lang="en-US" dirty="0"/>
            </a:br>
            <a:r>
              <a:rPr lang="en-US" dirty="0"/>
              <a:t>• Protects transmitted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2C71B-AE41-5293-B2EA-F02678E0B148}"/>
              </a:ext>
            </a:extLst>
          </p:cNvPr>
          <p:cNvSpPr txBox="1"/>
          <p:nvPr/>
        </p:nvSpPr>
        <p:spPr>
          <a:xfrm>
            <a:off x="8102009" y="2105246"/>
            <a:ext cx="3177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Encryption in Use</a:t>
            </a:r>
            <a:br>
              <a:rPr lang="en-US" dirty="0"/>
            </a:br>
            <a:r>
              <a:rPr lang="en-US" dirty="0"/>
              <a:t>• Memory protections</a:t>
            </a:r>
            <a:br>
              <a:rPr lang="en-US" dirty="0"/>
            </a:br>
            <a:r>
              <a:rPr lang="en-US" dirty="0"/>
              <a:t>• Minimizes runtime exposure</a:t>
            </a:r>
          </a:p>
        </p:txBody>
      </p:sp>
      <p:pic>
        <p:nvPicPr>
          <p:cNvPr id="8" name="Picture 7" descr="A red and green padlocks">
            <a:extLst>
              <a:ext uri="{FF2B5EF4-FFF2-40B4-BE49-F238E27FC236}">
                <a16:creationId xmlns:a16="http://schemas.microsoft.com/office/drawing/2014/main" id="{4E993ABA-8B2B-F4F9-05F9-1C8CDF4ED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127967" y="192708"/>
            <a:ext cx="3151050" cy="1638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392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FA3AA-D8C1-3275-26FC-49382365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Triple-A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8F122-2582-BBD7-CB94-75BBC3F49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875" y="2108201"/>
            <a:ext cx="3155742" cy="1450758"/>
          </a:xfrm>
        </p:spPr>
        <p:txBody>
          <a:bodyPr/>
          <a:lstStyle/>
          <a:p>
            <a:r>
              <a:rPr lang="en-US" b="1" dirty="0"/>
              <a:t>Authentication</a:t>
            </a:r>
            <a:br>
              <a:rPr lang="en-US" dirty="0"/>
            </a:br>
            <a:r>
              <a:rPr lang="en-US" dirty="0"/>
              <a:t>• Secure password hashing</a:t>
            </a:r>
            <a:br>
              <a:rPr lang="en-US" dirty="0"/>
            </a:br>
            <a:r>
              <a:rPr lang="en-US" dirty="0"/>
              <a:t>• Multi-factor authentication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E4B8CF-8E90-2D96-874B-F74C6837F36A}"/>
              </a:ext>
            </a:extLst>
          </p:cNvPr>
          <p:cNvSpPr txBox="1"/>
          <p:nvPr/>
        </p:nvSpPr>
        <p:spPr>
          <a:xfrm>
            <a:off x="4657060" y="2108201"/>
            <a:ext cx="31557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Authorization</a:t>
            </a:r>
            <a:br>
              <a:rPr lang="en-US"/>
            </a:br>
            <a:r>
              <a:rPr lang="en-US"/>
              <a:t>• Role-Based Access Control</a:t>
            </a:r>
            <a:br>
              <a:rPr lang="en-US"/>
            </a:br>
            <a:r>
              <a:rPr lang="en-US"/>
              <a:t>• Least privilege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C08760-A67F-83AE-3D50-F85445BA0E89}"/>
              </a:ext>
            </a:extLst>
          </p:cNvPr>
          <p:cNvSpPr txBox="1"/>
          <p:nvPr/>
        </p:nvSpPr>
        <p:spPr>
          <a:xfrm>
            <a:off x="8165805" y="2081631"/>
            <a:ext cx="29898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Accounting</a:t>
            </a:r>
            <a:br>
              <a:rPr lang="en-US" dirty="0"/>
            </a:br>
            <a:r>
              <a:rPr lang="en-US" dirty="0"/>
              <a:t>• Logins</a:t>
            </a:r>
            <a:br>
              <a:rPr lang="en-US" dirty="0"/>
            </a:br>
            <a:r>
              <a:rPr lang="en-US" dirty="0"/>
              <a:t>• Database changes</a:t>
            </a:r>
            <a:br>
              <a:rPr lang="en-US" dirty="0"/>
            </a:br>
            <a:r>
              <a:rPr lang="en-US" dirty="0"/>
              <a:t>• File access</a:t>
            </a:r>
            <a:br>
              <a:rPr lang="en-US" dirty="0"/>
            </a:br>
            <a:r>
              <a:rPr lang="en-US" dirty="0"/>
              <a:t>• Permission changes</a:t>
            </a:r>
          </a:p>
        </p:txBody>
      </p:sp>
      <p:pic>
        <p:nvPicPr>
          <p:cNvPr id="7" name="Picture 6" descr="A blue and white shield with a black background&#10;&#10;AI-generated content may be incorrect.">
            <a:extLst>
              <a:ext uri="{FF2B5EF4-FFF2-40B4-BE49-F238E27FC236}">
                <a16:creationId xmlns:a16="http://schemas.microsoft.com/office/drawing/2014/main" id="{1D632094-8742-881A-786D-0168B1DBB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568455" y="382647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263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597C1-6884-BEB9-2A8D-F66FE8ACA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Testing: Input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C1C58-563C-1008-98E2-BD77899BF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4846320" cy="1676990"/>
          </a:xfrm>
        </p:spPr>
        <p:txBody>
          <a:bodyPr/>
          <a:lstStyle/>
          <a:p>
            <a:r>
              <a:rPr lang="en-US" dirty="0"/>
              <a:t>• Test invalid age input</a:t>
            </a:r>
            <a:br>
              <a:rPr lang="en-US" dirty="0"/>
            </a:br>
            <a:r>
              <a:rPr lang="en-US" dirty="0"/>
              <a:t>• Verify rejection of out-of-range values</a:t>
            </a:r>
            <a:br>
              <a:rPr lang="en-US" dirty="0"/>
            </a:br>
            <a:r>
              <a:rPr lang="en-US" dirty="0"/>
              <a:t>• Use Visual Studio C++ unit test framework</a:t>
            </a:r>
            <a:br>
              <a:rPr lang="en-US" dirty="0"/>
            </a:br>
            <a:r>
              <a:rPr lang="en-US" dirty="0"/>
              <a:t>• Can expand to fuzz testing</a:t>
            </a:r>
          </a:p>
        </p:txBody>
      </p:sp>
    </p:spTree>
    <p:extLst>
      <p:ext uri="{BB962C8B-B14F-4D97-AF65-F5344CB8AC3E}">
        <p14:creationId xmlns:p14="http://schemas.microsoft.com/office/powerpoint/2010/main" val="2930453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7849B-D540-6A86-5FC7-E827B193E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Testing: SQL Injection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D9A1C-9414-4D52-DCEC-2DD01756C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506078" cy="1634459"/>
          </a:xfrm>
        </p:spPr>
        <p:txBody>
          <a:bodyPr/>
          <a:lstStyle/>
          <a:p>
            <a:r>
              <a:rPr lang="en-US" dirty="0"/>
              <a:t>• Test parameterized queries</a:t>
            </a:r>
            <a:br>
              <a:rPr lang="en-US" dirty="0"/>
            </a:br>
            <a:r>
              <a:rPr lang="en-US" dirty="0"/>
              <a:t>• Verify input cannot alter SQL structure</a:t>
            </a:r>
            <a:br>
              <a:rPr lang="en-US" dirty="0"/>
            </a:br>
            <a:r>
              <a:rPr lang="en-US" dirty="0"/>
              <a:t>• Simulate malicious input attempts</a:t>
            </a:r>
            <a:br>
              <a:rPr lang="en-US" dirty="0"/>
            </a:br>
            <a:r>
              <a:rPr lang="en-US" dirty="0"/>
              <a:t>• Expand to penetration testing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571ECD-E222-C564-0957-F57C173949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461" y="2280621"/>
            <a:ext cx="6773539" cy="41272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820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08FBB-5DCC-B905-2A2D-B1E1E4053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Testing: Memory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8C16-5203-CA96-1BC9-C7E7DA980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357222" cy="1708887"/>
          </a:xfrm>
        </p:spPr>
        <p:txBody>
          <a:bodyPr/>
          <a:lstStyle/>
          <a:p>
            <a:r>
              <a:rPr lang="en-US" dirty="0"/>
              <a:t>• Detect out-of-bounds access</a:t>
            </a:r>
            <a:br>
              <a:rPr lang="en-US" dirty="0"/>
            </a:br>
            <a:r>
              <a:rPr lang="en-US" dirty="0"/>
              <a:t>• Validate pointer initialization</a:t>
            </a:r>
            <a:br>
              <a:rPr lang="en-US" dirty="0"/>
            </a:br>
            <a:r>
              <a:rPr lang="en-US" dirty="0"/>
              <a:t>• Use </a:t>
            </a:r>
            <a:r>
              <a:rPr lang="en-US" dirty="0" err="1"/>
              <a:t>AddressSanitizer</a:t>
            </a:r>
            <a:r>
              <a:rPr lang="en-US" dirty="0"/>
              <a:t> during testing</a:t>
            </a:r>
            <a:br>
              <a:rPr lang="en-US" dirty="0"/>
            </a:br>
            <a:r>
              <a:rPr lang="en-US" dirty="0"/>
              <a:t>• Prevent runtime crashes</a:t>
            </a:r>
          </a:p>
        </p:txBody>
      </p:sp>
      <p:sp>
        <p:nvSpPr>
          <p:cNvPr id="4" name="AutoShape 2" descr="Uploaded image">
            <a:extLst>
              <a:ext uri="{FF2B5EF4-FFF2-40B4-BE49-F238E27FC236}">
                <a16:creationId xmlns:a16="http://schemas.microsoft.com/office/drawing/2014/main" id="{4C2AE7A2-1A74-941B-D09B-E0CC7C10E9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716767" cy="3716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BB5E52-1331-1C78-A65A-342B11CE6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055" y="2355926"/>
            <a:ext cx="6817945" cy="406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065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9A4B0-2043-5897-105F-20F8E07DF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DevSecOps</a:t>
            </a:r>
            <a:r>
              <a:rPr lang="en-US" dirty="0"/>
              <a:t> Automation 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B6CDCCF-9BC5-2E60-094F-2DCFFA4F81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5393599"/>
              </p:ext>
            </p:extLst>
          </p:nvPr>
        </p:nvGraphicFramePr>
        <p:xfrm>
          <a:off x="1036320" y="1947134"/>
          <a:ext cx="6356460" cy="25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A261943-ECEE-E56B-67D6-5283576F3C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5081300"/>
              </p:ext>
            </p:extLst>
          </p:nvPr>
        </p:nvGraphicFramePr>
        <p:xfrm>
          <a:off x="7155417" y="2756320"/>
          <a:ext cx="2440403" cy="904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ABBF7EEA-182E-DC4C-2C3E-02F9AB50BDDB}"/>
              </a:ext>
            </a:extLst>
          </p:cNvPr>
          <p:cNvGrpSpPr/>
          <p:nvPr/>
        </p:nvGrpSpPr>
        <p:grpSpPr>
          <a:xfrm>
            <a:off x="9362929" y="2756320"/>
            <a:ext cx="2438019" cy="904987"/>
            <a:chOff x="2383" y="0"/>
            <a:chExt cx="2438019" cy="904987"/>
          </a:xfrm>
        </p:grpSpPr>
        <p:sp>
          <p:nvSpPr>
            <p:cNvPr id="6" name="Arrow: Chevron 5">
              <a:extLst>
                <a:ext uri="{FF2B5EF4-FFF2-40B4-BE49-F238E27FC236}">
                  <a16:creationId xmlns:a16="http://schemas.microsoft.com/office/drawing/2014/main" id="{E805A961-701D-54B3-F7CD-E3DC0577D978}"/>
                </a:ext>
              </a:extLst>
            </p:cNvPr>
            <p:cNvSpPr/>
            <p:nvPr/>
          </p:nvSpPr>
          <p:spPr>
            <a:xfrm>
              <a:off x="2383" y="0"/>
              <a:ext cx="2438019" cy="904987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Arrow: Chevron 4">
              <a:extLst>
                <a:ext uri="{FF2B5EF4-FFF2-40B4-BE49-F238E27FC236}">
                  <a16:creationId xmlns:a16="http://schemas.microsoft.com/office/drawing/2014/main" id="{1BF0BEE5-E62F-EABA-1F7F-F98E168E9B79}"/>
                </a:ext>
              </a:extLst>
            </p:cNvPr>
            <p:cNvSpPr txBox="1"/>
            <p:nvPr/>
          </p:nvSpPr>
          <p:spPr>
            <a:xfrm>
              <a:off x="454877" y="0"/>
              <a:ext cx="1533032" cy="90498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40018" tIns="46673" rIns="46673" bIns="46673" numCol="1" spcCol="1270" anchor="ctr" anchorCtr="0">
              <a:noAutofit/>
            </a:bodyPr>
            <a:lstStyle/>
            <a:p>
              <a:pPr marL="0" lvl="0" indent="0" algn="ctr" defTabSz="15557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kern="1200" dirty="0"/>
                <a:t>Operate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CFDA8BB-230E-BF2C-46AC-6591294DDF8D}"/>
              </a:ext>
            </a:extLst>
          </p:cNvPr>
          <p:cNvSpPr txBox="1"/>
          <p:nvPr/>
        </p:nvSpPr>
        <p:spPr>
          <a:xfrm>
            <a:off x="1194099" y="3786692"/>
            <a:ext cx="15383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SAST scanning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02F488-7E7B-0573-6A61-1095EEFAC12B}"/>
              </a:ext>
            </a:extLst>
          </p:cNvPr>
          <p:cNvSpPr txBox="1"/>
          <p:nvPr/>
        </p:nvSpPr>
        <p:spPr>
          <a:xfrm>
            <a:off x="3410174" y="3883511"/>
            <a:ext cx="12694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Compiler warnings treated as errors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133CEA-B52F-EFB8-E2CD-2CDBE0044BEC}"/>
              </a:ext>
            </a:extLst>
          </p:cNvPr>
          <p:cNvSpPr txBox="1"/>
          <p:nvPr/>
        </p:nvSpPr>
        <p:spPr>
          <a:xfrm>
            <a:off x="5475642" y="3786692"/>
            <a:ext cx="16797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Unit tests + dynamic analysis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BAE0B1-4870-BEFE-1A5B-AEA66D76DA2E}"/>
              </a:ext>
            </a:extLst>
          </p:cNvPr>
          <p:cNvSpPr txBox="1"/>
          <p:nvPr/>
        </p:nvSpPr>
        <p:spPr>
          <a:xfrm>
            <a:off x="7392780" y="3883511"/>
            <a:ext cx="1679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Compliance gates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A30A09-51B0-E4EB-365C-B42563F30358}"/>
              </a:ext>
            </a:extLst>
          </p:cNvPr>
          <p:cNvSpPr txBox="1"/>
          <p:nvPr/>
        </p:nvSpPr>
        <p:spPr>
          <a:xfrm>
            <a:off x="9595820" y="3883511"/>
            <a:ext cx="1533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 monitoring</a:t>
            </a:r>
          </a:p>
        </p:txBody>
      </p:sp>
    </p:spTree>
    <p:extLst>
      <p:ext uri="{BB962C8B-B14F-4D97-AF65-F5344CB8AC3E}">
        <p14:creationId xmlns:p14="http://schemas.microsoft.com/office/powerpoint/2010/main" val="3528802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05DB1-E4C3-D753-C1A2-691E9400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 and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AAD9B-E093-304A-351B-35DA9BD4F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3304599" cy="1570664"/>
          </a:xfrm>
        </p:spPr>
        <p:txBody>
          <a:bodyPr/>
          <a:lstStyle/>
          <a:p>
            <a:r>
              <a:rPr lang="en-US" dirty="0"/>
              <a:t>If We Act Now</a:t>
            </a:r>
            <a:br>
              <a:rPr lang="en-US" dirty="0"/>
            </a:br>
            <a:r>
              <a:rPr lang="en-US" dirty="0"/>
              <a:t>• Reduced breach risk</a:t>
            </a:r>
            <a:br>
              <a:rPr lang="en-US" dirty="0"/>
            </a:br>
            <a:r>
              <a:rPr lang="en-US" dirty="0"/>
              <a:t>• Lower remediation cost</a:t>
            </a:r>
            <a:br>
              <a:rPr lang="en-US" dirty="0"/>
            </a:br>
            <a:r>
              <a:rPr lang="en-US" dirty="0"/>
              <a:t>• Regulatory compliance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955035-4CC3-1D0F-2D8A-A5F803678D06}"/>
              </a:ext>
            </a:extLst>
          </p:cNvPr>
          <p:cNvSpPr txBox="1"/>
          <p:nvPr/>
        </p:nvSpPr>
        <p:spPr>
          <a:xfrm>
            <a:off x="7556205" y="2108202"/>
            <a:ext cx="37213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We Wait</a:t>
            </a:r>
            <a:br>
              <a:rPr lang="en-US" dirty="0"/>
            </a:br>
            <a:r>
              <a:rPr lang="en-US" dirty="0"/>
              <a:t>• Increased exploit probability</a:t>
            </a:r>
            <a:br>
              <a:rPr lang="en-US" dirty="0"/>
            </a:br>
            <a:r>
              <a:rPr lang="en-US" dirty="0"/>
              <a:t>• Higher financial loss</a:t>
            </a:r>
            <a:br>
              <a:rPr lang="en-US" dirty="0"/>
            </a:br>
            <a:r>
              <a:rPr lang="en-US" dirty="0"/>
              <a:t>• Reputation damage</a:t>
            </a:r>
          </a:p>
        </p:txBody>
      </p:sp>
      <p:pic>
        <p:nvPicPr>
          <p:cNvPr id="6" name="Picture 5" descr="A close-up of a weight scale">
            <a:extLst>
              <a:ext uri="{FF2B5EF4-FFF2-40B4-BE49-F238E27FC236}">
                <a16:creationId xmlns:a16="http://schemas.microsoft.com/office/drawing/2014/main" id="{47CA838F-A8F9-08F2-F30F-B180379AE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401879" y="2096948"/>
            <a:ext cx="2705986" cy="180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445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A2F6-5712-CAEF-294D-FF68D60D4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Policy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556ED-10DB-C6D0-B1BD-78653D283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4442283" cy="1825846"/>
          </a:xfrm>
        </p:spPr>
        <p:txBody>
          <a:bodyPr>
            <a:normAutofit/>
          </a:bodyPr>
          <a:lstStyle/>
          <a:p>
            <a:r>
              <a:rPr lang="en-US" dirty="0"/>
              <a:t>• Dependency vulnerability scanning</a:t>
            </a:r>
            <a:br>
              <a:rPr lang="en-US" dirty="0"/>
            </a:br>
            <a:r>
              <a:rPr lang="en-US" dirty="0"/>
              <a:t>• Container security analysis</a:t>
            </a:r>
            <a:br>
              <a:rPr lang="en-US" dirty="0"/>
            </a:br>
            <a:r>
              <a:rPr lang="en-US" dirty="0"/>
              <a:t>• Continuous penetration testing</a:t>
            </a:r>
            <a:br>
              <a:rPr lang="en-US" dirty="0"/>
            </a:br>
            <a:r>
              <a:rPr lang="en-US" dirty="0"/>
              <a:t>• Secure SDLC training</a:t>
            </a:r>
            <a:br>
              <a:rPr lang="en-US" dirty="0"/>
            </a:br>
            <a:r>
              <a:rPr lang="en-US" dirty="0"/>
              <a:t>• Zero Trust architecture adoption</a:t>
            </a:r>
          </a:p>
        </p:txBody>
      </p:sp>
      <p:pic>
        <p:nvPicPr>
          <p:cNvPr id="5" name="Picture 4" descr="A road with pins on it&#10;&#10;AI-generated content may be incorrect.">
            <a:extLst>
              <a:ext uri="{FF2B5EF4-FFF2-40B4-BE49-F238E27FC236}">
                <a16:creationId xmlns:a16="http://schemas.microsoft.com/office/drawing/2014/main" id="{CC2095BF-33CD-3511-8D51-EF3CFB6E9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216186" y="4273881"/>
            <a:ext cx="3628484" cy="212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478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9C708-9F92-2F7D-20C0-8CA1F427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D8802-8EFC-467C-50E4-503789585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2"/>
            <a:ext cx="5250357" cy="1985334"/>
          </a:xfrm>
        </p:spPr>
        <p:txBody>
          <a:bodyPr/>
          <a:lstStyle/>
          <a:p>
            <a:r>
              <a:rPr lang="en-US" dirty="0"/>
              <a:t>• Security integrated across development lifecycle</a:t>
            </a:r>
            <a:br>
              <a:rPr lang="en-US" dirty="0"/>
            </a:br>
            <a:r>
              <a:rPr lang="en-US" dirty="0"/>
              <a:t>• Automation reduces human error</a:t>
            </a:r>
            <a:br>
              <a:rPr lang="en-US" dirty="0"/>
            </a:br>
            <a:r>
              <a:rPr lang="en-US" dirty="0"/>
              <a:t>• Layered controls support defense-in-depth</a:t>
            </a:r>
            <a:br>
              <a:rPr lang="en-US" dirty="0"/>
            </a:br>
            <a:r>
              <a:rPr lang="en-US" dirty="0"/>
              <a:t>• Continuous improvement required</a:t>
            </a:r>
          </a:p>
        </p:txBody>
      </p:sp>
      <p:pic>
        <p:nvPicPr>
          <p:cNvPr id="5" name="Picture 4" descr="A set of black and white icons&#10;&#10;AI-generated content may be incorrect.">
            <a:extLst>
              <a:ext uri="{FF2B5EF4-FFF2-40B4-BE49-F238E27FC236}">
                <a16:creationId xmlns:a16="http://schemas.microsoft.com/office/drawing/2014/main" id="{E61C3ECA-056A-A4D5-3548-B1D4873D48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840279" y="0"/>
            <a:ext cx="3212075" cy="172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807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C9482-6BA1-1C13-116E-C460E340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99014-13BF-8328-1F5B-C00B43957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77806"/>
            <a:ext cx="10058400" cy="4593591"/>
          </a:xfrm>
        </p:spPr>
        <p:txBody>
          <a:bodyPr>
            <a:normAutofit/>
          </a:bodyPr>
          <a:lstStyle/>
          <a:p>
            <a:r>
              <a:rPr lang="en-US" dirty="0"/>
              <a:t>Carnegie Mellon University, Software Engineering Institute. (2016). </a:t>
            </a:r>
            <a:r>
              <a:rPr lang="en-US" i="1" dirty="0"/>
              <a:t>SEI CERT C++ coding standard</a:t>
            </a:r>
            <a:r>
              <a:rPr lang="en-US" dirty="0"/>
              <a:t>. </a:t>
            </a:r>
            <a:r>
              <a:rPr lang="en-US" dirty="0">
                <a:hlinkClick r:id="rId2"/>
              </a:rPr>
              <a:t>https://wiki.sei.cmu.edu/confluence/display/cplusplus</a:t>
            </a:r>
            <a:endParaRPr lang="en-US" dirty="0"/>
          </a:p>
          <a:p>
            <a:r>
              <a:rPr lang="en-US" dirty="0"/>
              <a:t>National Institute of Standards and Technology. (2020). </a:t>
            </a:r>
            <a:r>
              <a:rPr lang="en-US" i="1" dirty="0"/>
              <a:t>Security and privacy controls for information systems and organizations (NIST SP 800-53 Rev. 5)</a:t>
            </a:r>
            <a:r>
              <a:rPr lang="en-US" dirty="0"/>
              <a:t>. </a:t>
            </a:r>
            <a:r>
              <a:rPr lang="en-US" dirty="0">
                <a:hlinkClick r:id="rId3"/>
              </a:rPr>
              <a:t>https://doi.org/10.6028/NIST.SP.800-53r5</a:t>
            </a:r>
            <a:endParaRPr lang="en-US" dirty="0"/>
          </a:p>
          <a:p>
            <a:r>
              <a:rPr lang="en-US" dirty="0"/>
              <a:t>OWASP Foundation. (2021). </a:t>
            </a:r>
            <a:r>
              <a:rPr lang="en-US" i="1" dirty="0"/>
              <a:t>OWASP top 10: The ten most critical web application security risks</a:t>
            </a:r>
            <a:r>
              <a:rPr lang="en-US" dirty="0"/>
              <a:t>. </a:t>
            </a:r>
            <a:r>
              <a:rPr lang="en-US" dirty="0">
                <a:hlinkClick r:id="rId4"/>
              </a:rPr>
              <a:t>https://owasp.org/www-project-top-ten/</a:t>
            </a:r>
            <a:endParaRPr lang="en-US" dirty="0"/>
          </a:p>
          <a:p>
            <a:r>
              <a:rPr lang="en-US" dirty="0"/>
              <a:t>Microsoft. (2023). </a:t>
            </a:r>
            <a:r>
              <a:rPr lang="en-US" i="1" dirty="0" err="1"/>
              <a:t>AddressSanitizer</a:t>
            </a:r>
            <a:r>
              <a:rPr lang="en-US" i="1" dirty="0"/>
              <a:t> for MSVC</a:t>
            </a:r>
            <a:r>
              <a:rPr lang="en-US" dirty="0"/>
              <a:t>. Microsoft Learn. </a:t>
            </a:r>
            <a:r>
              <a:rPr lang="en-US" dirty="0">
                <a:hlinkClick r:id="rId5"/>
              </a:rPr>
              <a:t>https://learn.microsoft.com/en-us/cpp/sanitizers/</a:t>
            </a:r>
            <a:r>
              <a:rPr lang="en-US" dirty="0"/>
              <a:t> </a:t>
            </a:r>
          </a:p>
          <a:p>
            <a:r>
              <a:rPr lang="en-US" dirty="0"/>
              <a:t>ISO/IEC. (2014). </a:t>
            </a:r>
            <a:r>
              <a:rPr lang="en-US" i="1" dirty="0"/>
              <a:t>ISO/IEC 27001: Information security management systems</a:t>
            </a:r>
            <a:r>
              <a:rPr lang="en-US" dirty="0"/>
              <a:t>. International Organization for Standardization.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27167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Statistics focus</Template>
  <TotalTime>1849</TotalTime>
  <Words>699</Words>
  <Application>Microsoft Office PowerPoint</Application>
  <PresentationFormat>Widescreen</PresentationFormat>
  <Paragraphs>105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Bookman Old Style</vt:lpstr>
      <vt:lpstr>Calibri</vt:lpstr>
      <vt:lpstr>Franklin Gothic Book</vt:lpstr>
      <vt:lpstr>Custom</vt:lpstr>
      <vt:lpstr>Green Pace Security Policy</vt:lpstr>
      <vt:lpstr>Overview of Security Policy</vt:lpstr>
      <vt:lpstr>Threat Matrix Summary</vt:lpstr>
      <vt:lpstr>Automation for Detection</vt:lpstr>
      <vt:lpstr>Ten Core Security Principles</vt:lpstr>
      <vt:lpstr>Mapping Principles to Standards</vt:lpstr>
      <vt:lpstr>Coding Standards Prioritized</vt:lpstr>
      <vt:lpstr>Encryption Strategy</vt:lpstr>
      <vt:lpstr>Triple-A Framework</vt:lpstr>
      <vt:lpstr>Unit Testing: Input Validation</vt:lpstr>
      <vt:lpstr>Unit Testing: SQL Injection</vt:lpstr>
      <vt:lpstr>Unit Testing: Memory Safety</vt:lpstr>
      <vt:lpstr>DevSecOps Automation Flow</vt:lpstr>
      <vt:lpstr>Risks and Benefits</vt:lpstr>
      <vt:lpstr>Future Policy Improvements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Chapman</dc:creator>
  <cp:lastModifiedBy>Ethan Chapman</cp:lastModifiedBy>
  <cp:revision>19</cp:revision>
  <dcterms:created xsi:type="dcterms:W3CDTF">2026-02-22T19:23:28Z</dcterms:created>
  <dcterms:modified xsi:type="dcterms:W3CDTF">2026-02-27T21:56:49Z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